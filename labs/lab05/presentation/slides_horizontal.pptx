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GNS3 VM и GNS3, создал новый проект. В рабочей области разместил коммутатор Ethernet и два VPCS. Присвоил устройствам имена: коммутатору — </a:t>
            </a:r>
            <a:r>
              <a:rPr>
                <a:latin typeface="DejaVu Sans Mono"/>
              </a:rPr>
              <a:t>msk-alkamal-sw-01</a:t>
            </a:r>
            <a:r>
              <a:rPr/>
              <a:t>. Соединил VPCS с коммутатором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193800"/>
            <a:ext cx="193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GNS3 VM и GNS3, создал новый проект. В рабочей области разместил коммутатор Ethernet и два VPCS. Присвоил устройствам имена: коммутатору — </a:t>
            </a:r>
            <a:r>
              <a:rPr>
                <a:latin typeface="DejaVu Sans Mono"/>
              </a:rPr>
              <a:t>msk-alkamal-sw-01</a:t>
            </a:r>
            <a:r>
              <a:rPr/>
              <a:t>. Соединил VPCS с коммутатором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Задал IP-адреса VPCS. Для PC-1 установил адрес 192.168.1.11/24 со шлюзом 192.168.1.1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1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Задал IP-адреса VPCS. Для PC-1 установил адрес 192.168.1.11/24 со шлюзом 192.168.1.1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PC-2 установил адрес 192.168.1.12/24 (рис. @fig:003):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8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Для PC-2 установил адрес 192.168.1.12/24 (рис. @fig:003):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доступность между PC-1 и PC-2 с помощью команды ping (рис. @fig:004):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5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доступность между PC-1 и PC-2 с помощью команды ping (рис. @fig:004):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Остановил все узлы проекта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4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Остановил все узлы проекта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Запустил анализатор трафика на соединении между PC-1 и коммутатором. После запуска Wireshark на линии соединения появился значок захвата. Затем запустил все узлы проекта (рис. @fig:006):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32000"/>
            <a:ext cx="8229600" cy="119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Запустил анализатор трафика на соединении между PC-1 и коммутатором. После запуска Wireshark на линии соединения появился значок захвата. Затем запустил все узлы проекта (рис. @fig:006):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окне Wireshark отобразились ARP-пакеты (рис. @fig:007). Длина кадра составляет 64 байта, MAC-адрес назначения — широковещательный (ff:ff:ff:ff:ff:ff), адрес источника — глобально уникальный.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60600"/>
            <a:ext cx="8229600" cy="74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окне Wireshark отобразились ARP-пакеты (рис. @fig:007). Длина кадра составляет 64 байта, MAC-адрес назначения — широковещательный (ff:ff:ff:ff:ff:ff), адрес источника — глобально уникальный.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терминале PC-2 выполнил эхо-запрос в ICMP-режиме к узлу PC-1 с опцией </a:t>
            </a:r>
            <a:r>
              <a:rPr>
                <a:latin typeface="DejaVu Sans Mono"/>
              </a:rPr>
              <a:t>-1</a:t>
            </a:r>
            <a:r>
              <a:rPr/>
              <a:t> (рис. @fig:008):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4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терминале PC-2 выполнил эхо-запрос в ICMP-режиме к узлу PC-1 с опцией </a:t>
            </a:r>
            <a:r>
              <a:rPr>
                <a:latin typeface="DejaVu Sans Mono"/>
              </a:rPr>
              <a:t>-1</a:t>
            </a:r>
            <a:r>
              <a:rPr/>
              <a:t> (рис. @fig:008):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эхо-запрос по протоколу ICMP в Wireshark (рис. @fig:009, @fig:010). На канальном уровне видны MAC-адреса источника и получателя (unicast). На сетевом уровне указан протокол ICMP, IP-адрес источника 192.168.1.12 (PC-2) и адрес назначения 192.168.1.11 (PC-1).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1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эхо-запрос по протоколу ICMP в Wireshark (рис. @fig:009, @fig:010). На канальном уровне видны MAC-адреса источника и получателя (unicast). На сетевом уровне указан протокол ICMP, IP-адрес источника 192.168.1.12 (PC-2) и адрес назначения 192.168.1.11 (PC-1).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Эхо-запрос ICMP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20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Эхо-запрос ICMP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эхо-запрос в UDP-режиме к узлу PC-1 с опцией </a:t>
            </a:r>
            <a:r>
              <a:rPr>
                <a:latin typeface="DejaVu Sans Mono"/>
              </a:rPr>
              <a:t>-2</a:t>
            </a:r>
            <a:r>
              <a:rPr/>
              <a:t> (рис. @fig:011):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1193800"/>
            <a:ext cx="320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эхо-запрос в UDP-режиме к узлу PC-1 с опцией </a:t>
            </a:r>
            <a:r>
              <a:rPr>
                <a:latin typeface="DejaVu Sans Mono"/>
              </a:rPr>
              <a:t>-2</a:t>
            </a:r>
            <a:r>
              <a:rPr/>
              <a:t> (рис. @fig:011):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UDP-пакеты в Wireshark (рис. @fig:012, @fig:013). На транспортном уровне указаны UDP-порты: порт источника — 19241, порт назначения — 7 (Echo).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54200"/>
            <a:ext cx="82296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UDP-пакеты в Wireshark (рис. @fig:012, @fig:013). На транспортном уровне указаны UDP-порты: порт источника — 19241, порт назначения — 7 (Echo).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UDP эхо-запрос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0" y="1193800"/>
            <a:ext cx="6604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UDP эхо-запрос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эхо-запрос в TCP-режиме к узлу PC-1 с опцией </a:t>
            </a:r>
            <a:r>
              <a:rPr>
                <a:latin typeface="DejaVu Sans Mono"/>
              </a:rPr>
              <a:t>-3</a:t>
            </a:r>
            <a:r>
              <a:rPr/>
              <a:t> (рис. @fig:014):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эхо-запрос в TCP-режиме к узлу PC-1 с опцией </a:t>
            </a:r>
            <a:r>
              <a:rPr>
                <a:latin typeface="DejaVu Sans Mono"/>
              </a:rPr>
              <a:t>-3</a:t>
            </a:r>
            <a:r>
              <a:rPr/>
              <a:t> (рис. @fig:014):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Проанализировал TCP-пакеты в Wireshark. На первом этапе передаётся сегмент с флагом SYN (рис. @fig:015):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" y="1193800"/>
            <a:ext cx="821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Проанализировал TCP-пакеты в Wireshark. На первом этапе передаётся сегмент с флагом SYN (рис. @fig:015):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втором этапе принимающая сторона отвечает сегментом с флагами SYN и ACK (рис. @fig:016):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193800"/>
            <a:ext cx="419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втором этапе принимающая сторона отвечает сегментом с флагами SYN и ACK (рис. @fig:016):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третьем этапе инициатор отправляет сегмент с флагом ACK, завершая установление TCP-соединения (рис. @fig:017):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82296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третьем этапе инициатор отправляет сегмент с флагом ACK, завершая установление TCP-соединения (рис. @fig:017):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Построил топологию сети с маршрутизатором FRR, коммутатором и оконечным устройством (рис. @fig:018):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82296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Построил топологию сети с маршрутизатором FRR, коммутатором и оконечным устройством (рис. @fig:018):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IP-адресацию для интерфейса узла PC1: 192.168.1.10/24 со шлюзом 192.168.1.1 (рис. @fig:019):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403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IP-адресацию для интерфейса узла PC1: 192.168.1.10/24 со шлюзом 192.168.1.1 (рис. @fig:019):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IP-адресацию для интерфейса локальной сети маршрутизатора FRR и проверил конфигурацию (рис. @fig:020):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0" y="1193800"/>
            <a:ext cx="614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IP-адресацию для интерфейса локальной сети маршрутизатора FRR и проверил конфигурацию (рис. @fig:020):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работоспособность соединения. Узел PC1 успешно отправляет ICMP эхо-запросы на адрес маршрутизатора 192.168.1.1 (рис. @fig:021):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1193800"/>
            <a:ext cx="3898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работоспособность соединения. Узел PC1 успешно отправляет ICMP эхо-запросы на адрес маршрутизатора 192.168.1.1 (рис. @fig:021):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Wireshark проанализировал захваченный трафик (рис. @fig:022):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755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Wireshark проанализировал захваченный трафик (рис. @fig:022):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Построил топологию сети с маршрутизатором VyOS (рис. @fig:023):</a:t>
            </a:r>
          </a:p>
        </p:txBody>
      </p:sp>
      <p:pic>
        <p:nvPicPr>
          <p:cNvPr descr="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49400" y="1193800"/>
            <a:ext cx="604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Построил топологию сети с маршрутизатором VyOS (рис. @fig:023):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Настроил IP-адресацию для интерфейса узла PC1: 192.168.1.10/24 со шлюзом 192.168.1.1 (рис. @fig:024):</a:t>
            </a:r>
          </a:p>
        </p:txBody>
      </p:sp>
      <p:pic>
        <p:nvPicPr>
          <p:cNvPr descr="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Настроил IP-адресацию для интерфейса узла PC1: 192.168.1.10/24 со шлюзом 192.168.1.1 (рис. @fig:024):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Выполнил вход в систему VyOS (логин: vyos, пароль: vyos) (рис. @fig:025):</a:t>
            </a:r>
          </a:p>
        </p:txBody>
      </p:sp>
      <p:pic>
        <p:nvPicPr>
          <p:cNvPr descr="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Выполнил вход в систему VyOS (логин: vyos, пароль: vyos) (рис. @fig:025):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Перешёл в режим конфигурирования командой </a:t>
            </a:r>
            <a:r>
              <a:rPr>
                <a:latin typeface="DejaVu Sans Mono"/>
              </a:rPr>
              <a:t>configure</a:t>
            </a:r>
            <a:r>
              <a:rPr/>
              <a:t> и назначил IP-адрес 192.168.1.1/24 интерфейсу eth0. Применил изменения командой </a:t>
            </a:r>
            <a:r>
              <a:rPr>
                <a:latin typeface="DejaVu Sans Mono"/>
              </a:rPr>
              <a:t>commit</a:t>
            </a:r>
            <a:r>
              <a:rPr/>
              <a:t> и сохранил конфигурацию командой </a:t>
            </a:r>
            <a:r>
              <a:rPr>
                <a:latin typeface="DejaVu Sans Mono"/>
              </a:rPr>
              <a:t>save</a:t>
            </a:r>
            <a:r>
              <a:rPr/>
              <a:t> (рис. @fig:026, @fig:027):</a:t>
            </a:r>
          </a:p>
        </p:txBody>
      </p:sp>
      <p:pic>
        <p:nvPicPr>
          <p:cNvPr descr="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Перешёл в режим конфигурирования командой </a:t>
            </a:r>
            <a:r>
              <a:rPr>
                <a:latin typeface="DejaVu Sans Mono"/>
              </a:rPr>
              <a:t>configure</a:t>
            </a:r>
            <a:r>
              <a:rPr/>
              <a:t> и назначил IP-адрес 192.168.1.1/24 интерфейсу eth0. Применил изменения командой </a:t>
            </a:r>
            <a:r>
              <a:rPr>
                <a:latin typeface="DejaVu Sans Mono"/>
              </a:rPr>
              <a:t>commit</a:t>
            </a:r>
            <a:r>
              <a:rPr/>
              <a:t> и сохранил конфигурацию командой </a:t>
            </a:r>
            <a:r>
              <a:rPr>
                <a:latin typeface="DejaVu Sans Mono"/>
              </a:rPr>
              <a:t>save</a:t>
            </a:r>
            <a:r>
              <a:rPr/>
              <a:t> (рис. @fig:026, @fig:027):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интерфейса eth0 VyOS</a:t>
            </a:r>
          </a:p>
        </p:txBody>
      </p:sp>
      <p:pic>
        <p:nvPicPr>
          <p:cNvPr descr="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0900" y="1193800"/>
            <a:ext cx="488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Настройка интерфейса eth0 VyOS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Проверил подключение. Узел PC1 успешно отправляет ICMP эхо-запросы на адрес маршрутизатора 192.168.1.1 (рис. @fig:028):</a:t>
            </a:r>
          </a:p>
        </p:txBody>
      </p:sp>
      <p:pic>
        <p:nvPicPr>
          <p:cNvPr descr="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44600" y="1193800"/>
            <a:ext cx="665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Проверил подключение. Узел PC1 успешно отправляет ICMP эхо-запросы на адрес маршрутизатора 192.168.1.1 (рис. @fig:028):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Wireshark проанализировал захваченный трафик (рис. @fig:029):</a:t>
            </a:r>
          </a:p>
        </p:txBody>
      </p:sp>
      <p:pic>
        <p:nvPicPr>
          <p:cNvPr descr="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1193800"/>
            <a:ext cx="474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Wireshark проанализировал захваченный трафик (рис. @fig:029):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№30</a:t>
            </a:r>
          </a:p>
        </p:txBody>
      </p:sp>
      <p:pic>
        <p:nvPicPr>
          <p:cNvPr descr="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71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№30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№31</a:t>
            </a:r>
          </a:p>
        </p:txBody>
      </p:sp>
      <p:pic>
        <p:nvPicPr>
          <p:cNvPr descr="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9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№31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№32</a:t>
            </a:r>
          </a:p>
        </p:txBody>
      </p:sp>
      <p:pic>
        <p:nvPicPr>
          <p:cNvPr descr="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76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№32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№33</a:t>
            </a:r>
          </a:p>
        </p:txBody>
      </p:sp>
      <p:pic>
        <p:nvPicPr>
          <p:cNvPr descr="3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35300" y="1193800"/>
            <a:ext cx="306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№33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№34</a:t>
            </a:r>
          </a:p>
        </p:txBody>
      </p:sp>
      <p:pic>
        <p:nvPicPr>
          <p:cNvPr descr="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1193800"/>
            <a:ext cx="392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№34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№35</a:t>
            </a:r>
          </a:p>
        </p:txBody>
      </p:sp>
      <p:pic>
        <p:nvPicPr>
          <p:cNvPr descr="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7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№35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№05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№05</dc:title>
  <dc:creator>Талебу Тенке Франк Устон</dc:creator>
  <cp:keywords/>
  <dcterms:created xsi:type="dcterms:W3CDTF">2026-03-18T11:56:05Z</dcterms:created>
  <dcterms:modified xsi:type="dcterms:W3CDTF">2026-03-18T11:56:05Z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mainfont">
    <vt:lpwstr>DejaVu Serif</vt:lpwstr>
  </property>
  <property fmtid="{D5CDD505-2E9C-101B-9397-08002B2CF9AE}" pid="6" name="monofont">
    <vt:lpwstr>DejaVu Sans Mono</vt:lpwstr>
  </property>
  <property fmtid="{D5CDD505-2E9C-101B-9397-08002B2CF9AE}" pid="7" name="sansfont">
    <vt:lpwstr>DejaVu Sans</vt:lpwstr>
  </property>
  <property fmtid="{D5CDD505-2E9C-101B-9397-08002B2CF9AE}" pid="8" name="subtitle">
    <vt:lpwstr>Дисциплина: Администрирование сетевых подсистем</vt:lpwstr>
  </property>
  <property fmtid="{D5CDD505-2E9C-101B-9397-08002B2CF9AE}" pid="9" name="theme">
    <vt:lpwstr>CambridgeUS</vt:lpwstr>
  </property>
</Properties>
</file>