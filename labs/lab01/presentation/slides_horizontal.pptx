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3" Type="http://schemas.openxmlformats.org/officeDocument/2006/relationships/viewProps" Target="viewProps.xml" /><Relationship Id="rId4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5" Type="http://schemas.openxmlformats.org/officeDocument/2006/relationships/tableStyles" Target="tableStyles.xml" /><Relationship Id="rId4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5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6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7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8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9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0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1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2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3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4.pn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5.pn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6.png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7.png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8.png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9.png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0.png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1.png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2.png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3.png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4.png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5.png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№01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Дисциплина: Администрирование сетевых подсистем</a:t>
            </a:r>
            <a:br/>
            <a:br/>
            <a:r>
              <a:rPr/>
              <a:t>Талебу Тенке Франк Устон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Докладчик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Талебу Тенке Франк Устон</a:t>
            </a:r>
          </a:p>
          <a:p>
            <a:pPr lvl="0"/>
            <a:r>
              <a:rPr/>
              <a:t>Студент группы НФИбд-02-23</a:t>
            </a:r>
          </a:p>
          <a:p>
            <a:pPr lvl="0"/>
            <a:r>
              <a:rPr/>
              <a:t>Студ. билет 1032224534</a:t>
            </a:r>
          </a:p>
          <a:p>
            <a:pPr lvl="0"/>
            <a:r>
              <a:rPr/>
              <a:t>Российский университет дружбы народов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Изучение принципов работы сетевых технологий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После запуска Octave создал сценарий </a:t>
            </a:r>
            <a:r>
              <a:rPr>
                <a:latin typeface="DejaVu Sans Mono"/>
              </a:rPr>
              <a:t>plot_sin.m</a:t>
            </a:r>
            <a:r>
              <a:rPr/>
              <a:t> для построения графика функции (рис. @fig:001):</a:t>
            </a:r>
          </a:p>
        </p:txBody>
      </p:sp>
      <p:pic>
        <p:nvPicPr>
          <p:cNvPr descr="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43000" y="1193800"/>
            <a:ext cx="6845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После запуска Octave создал сценарий </a:t>
            </a:r>
            <a:r>
              <a:rPr>
                <a:latin typeface="DejaVu Sans Mono"/>
              </a:rPr>
              <a:t>plot_sin.m</a:t>
            </a:r>
            <a:r>
              <a:rPr/>
              <a:t> для построения графика функции (рис. @fig:001):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Далее построил графики функций y1 и y2 на одном рисунке (рис. @fig:002):</a:t>
            </a:r>
          </a:p>
        </p:txBody>
      </p:sp>
      <p:pic>
        <p:nvPicPr>
          <p:cNvPr descr="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03300" y="1193800"/>
            <a:ext cx="7137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Далее построил графики функций y1 и y2 на одном рисунке (рис. @fig:002):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Разложил импульсный сигнал в частичный ряд Фурье. Получил графики меандра через косинусы (рис. @fig:003) и через синусы (рис. @fig:004):</a:t>
            </a:r>
          </a:p>
        </p:txBody>
      </p:sp>
      <p:pic>
        <p:nvPicPr>
          <p:cNvPr descr="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048000" y="1193800"/>
            <a:ext cx="3060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Разложил импульсный сигнал в частичный ряд Фурье. Получил графики меандра через косинусы (рис. @fig:003) и через синусы (рис. @fig:004):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Графики меандра (косинусы)</a:t>
            </a:r>
          </a:p>
        </p:txBody>
      </p:sp>
      <p:pic>
        <p:nvPicPr>
          <p:cNvPr descr="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67000" y="1193800"/>
            <a:ext cx="3822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Графики меандра (косинусы)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Определил спектр двух отдельных сигналов разной частоты (рис. @fig:005):</a:t>
            </a:r>
          </a:p>
        </p:txBody>
      </p:sp>
      <p:pic>
        <p:nvPicPr>
          <p:cNvPr descr="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94000" y="1193800"/>
            <a:ext cx="3556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Определил спектр двух отдельных сигналов разной частоты (рис. @fig:005):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Построил график спектров сигналов (рис. @fig:006) и исправленный график спектров (рис. @fig:007):</a:t>
            </a:r>
          </a:p>
        </p:txBody>
      </p:sp>
      <p:pic>
        <p:nvPicPr>
          <p:cNvPr descr="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65400" y="1193800"/>
            <a:ext cx="4000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Построил график спектров сигналов (рис. @fig:006) и исправленный график спектров (рис. @fig:007):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График спектров сигналов</a:t>
            </a:r>
          </a:p>
        </p:txBody>
      </p:sp>
      <p:pic>
        <p:nvPicPr>
          <p:cNvPr descr="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54300" y="1193800"/>
            <a:ext cx="3822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График спектров сигналов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Определил спектр суммы сигналов (рис. @fig:008, @fig:009):</a:t>
            </a:r>
          </a:p>
        </p:txBody>
      </p:sp>
      <p:pic>
        <p:nvPicPr>
          <p:cNvPr descr="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81300" y="1193800"/>
            <a:ext cx="3581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Определил спектр суммы сигналов (рис. @fig:008, @fig:009):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Суммарный сигнал</a:t>
            </a:r>
          </a:p>
        </p:txBody>
      </p:sp>
      <p:pic>
        <p:nvPicPr>
          <p:cNvPr descr="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06700" y="1193800"/>
            <a:ext cx="3530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Суммарный сигнал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Выполнил задание с частотой дискретизации 50 Гц (меньше 80 Гц). Получил искажённые графики (рис. @fig:010-014):</a:t>
            </a:r>
          </a:p>
        </p:txBody>
      </p:sp>
      <p:pic>
        <p:nvPicPr>
          <p:cNvPr descr="1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54300" y="1193800"/>
            <a:ext cx="3835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Выполнил задание с частотой дискретизации 50 Гц (меньше 80 Гц). Получил искажённые графики (рис. @fig:010-014):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Два сигнала (fd=50)</a:t>
            </a:r>
          </a:p>
        </p:txBody>
      </p:sp>
      <p:pic>
        <p:nvPicPr>
          <p:cNvPr descr="1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41600" y="1193800"/>
            <a:ext cx="3860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Два сигнала (fd=50)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Спектры сигналов (fd=50)</a:t>
            </a:r>
          </a:p>
        </p:txBody>
      </p:sp>
      <p:pic>
        <p:nvPicPr>
          <p:cNvPr descr="1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92400" y="1193800"/>
            <a:ext cx="3746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Спектры сигналов (fd=50)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Исправленные спектры (fd=50)</a:t>
            </a:r>
          </a:p>
        </p:txBody>
      </p:sp>
      <p:pic>
        <p:nvPicPr>
          <p:cNvPr descr="1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55900" y="1193800"/>
            <a:ext cx="3619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Исправленные спектры (fd=50)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Суммарный сигнал (fd=50)</a:t>
            </a:r>
          </a:p>
        </p:txBody>
      </p:sp>
      <p:pic>
        <p:nvPicPr>
          <p:cNvPr descr="1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41600" y="1193800"/>
            <a:ext cx="3860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Суммарный сигнал (fd=50)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Продемонстрировал аналоговую амплитудную модуляцию (рис. @fig:015, @fig:016):</a:t>
            </a:r>
          </a:p>
        </p:txBody>
      </p:sp>
      <p:pic>
        <p:nvPicPr>
          <p:cNvPr descr="1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05100" y="1193800"/>
            <a:ext cx="3721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Продемонстрировал аналоговую амплитудную модуляцию (рис. @fig:015, @fig:016):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Сигнал и огибающая при АМ</a:t>
            </a:r>
          </a:p>
        </p:txBody>
      </p:sp>
      <p:pic>
        <p:nvPicPr>
          <p:cNvPr descr="1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55900" y="1193800"/>
            <a:ext cx="3632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Сигнал и огибающая при АМ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Получил кодированные сигналы для различных кодов (рис. @fig:017-022):</a:t>
            </a:r>
          </a:p>
        </p:txBody>
      </p:sp>
      <p:pic>
        <p:nvPicPr>
          <p:cNvPr descr="1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54300" y="1193800"/>
            <a:ext cx="3835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Получил кодированные сигналы для различных кодов (рис. @fig:017-022):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Униполярное кодирование</a:t>
            </a:r>
          </a:p>
        </p:txBody>
      </p:sp>
      <p:pic>
        <p:nvPicPr>
          <p:cNvPr descr="1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55900" y="1193800"/>
            <a:ext cx="3632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Униполярное кодирование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Кодирование AMI</a:t>
            </a:r>
          </a:p>
        </p:txBody>
      </p:sp>
      <p:pic>
        <p:nvPicPr>
          <p:cNvPr descr="1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70200" y="1193800"/>
            <a:ext cx="3403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Кодирование AMI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Кодирование NRZ</a:t>
            </a:r>
          </a:p>
        </p:txBody>
      </p:sp>
      <p:pic>
        <p:nvPicPr>
          <p:cNvPr descr="2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94000" y="1193800"/>
            <a:ext cx="3556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Кодирование NRZ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Кодирование RZ</a:t>
            </a:r>
          </a:p>
        </p:txBody>
      </p:sp>
      <p:pic>
        <p:nvPicPr>
          <p:cNvPr descr="2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68600" y="1193800"/>
            <a:ext cx="3606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Кодирование RZ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Манчестерское кодирование</a:t>
            </a:r>
          </a:p>
        </p:txBody>
      </p:sp>
      <p:pic>
        <p:nvPicPr>
          <p:cNvPr descr="2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44800" y="1193800"/>
            <a:ext cx="3454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Манчестерское кодирование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Проверил свойства самосинхронизации кодов (рис. @fig:023-028):</a:t>
            </a:r>
          </a:p>
        </p:txBody>
      </p:sp>
      <p:pic>
        <p:nvPicPr>
          <p:cNvPr descr="2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30500" y="1193800"/>
            <a:ext cx="3695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Проверил свойства самосинхронизации кодов (рис. @fig:023-028):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Униполярное кодирование: нет самосинхронизации</a:t>
            </a:r>
          </a:p>
        </p:txBody>
      </p:sp>
      <p:pic>
        <p:nvPicPr>
          <p:cNvPr descr="2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19400" y="1193800"/>
            <a:ext cx="3505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Униполярное кодирование: нет самосинхронизации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Кодирование AMI: самосинхронизация</a:t>
            </a:r>
          </a:p>
        </p:txBody>
      </p:sp>
      <p:pic>
        <p:nvPicPr>
          <p:cNvPr descr="2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05100" y="1193800"/>
            <a:ext cx="3733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Кодирование AMI: самосинхронизация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Кодирование NRZ: нет самосинхронизации</a:t>
            </a:r>
          </a:p>
        </p:txBody>
      </p:sp>
      <p:pic>
        <p:nvPicPr>
          <p:cNvPr descr="2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17800" y="1193800"/>
            <a:ext cx="3708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Кодирование NRZ: нет самосинхронизации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Кодирование RZ: есть самосинхронизация</a:t>
            </a:r>
          </a:p>
        </p:txBody>
      </p:sp>
      <p:pic>
        <p:nvPicPr>
          <p:cNvPr descr="2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52700" y="1193800"/>
            <a:ext cx="4025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Кодирование RZ: есть самосинхронизация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Манчестерское кодирование: есть самосинхронизация</a:t>
            </a:r>
          </a:p>
        </p:txBody>
      </p:sp>
      <p:pic>
        <p:nvPicPr>
          <p:cNvPr descr="2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89200" y="1193800"/>
            <a:ext cx="4178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Манчестерское кодирование: есть самосинхронизация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Получил спектры сигналов для различных кодов (рис. @fig:029-034):</a:t>
            </a:r>
          </a:p>
        </p:txBody>
      </p:sp>
      <p:pic>
        <p:nvPicPr>
          <p:cNvPr descr="2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14600" y="1193800"/>
            <a:ext cx="4114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Получил спектры сигналов для различных кодов (рис. @fig:029-034):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Спектр униполярного кода</a:t>
            </a:r>
          </a:p>
        </p:txBody>
      </p:sp>
      <p:pic>
        <p:nvPicPr>
          <p:cNvPr descr="3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78100" y="1193800"/>
            <a:ext cx="3987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Спектр униполярного кода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Спектр кода AMI</a:t>
            </a:r>
          </a:p>
        </p:txBody>
      </p:sp>
      <p:pic>
        <p:nvPicPr>
          <p:cNvPr descr="3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28900" y="1193800"/>
            <a:ext cx="3886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Спектр кода AMI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Спектр кода NRZ</a:t>
            </a:r>
          </a:p>
        </p:txBody>
      </p:sp>
      <p:pic>
        <p:nvPicPr>
          <p:cNvPr descr="3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68600" y="1193800"/>
            <a:ext cx="3594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Спектр кода NRZ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Спектр кода RZ</a:t>
            </a:r>
          </a:p>
        </p:txBody>
      </p:sp>
      <p:pic>
        <p:nvPicPr>
          <p:cNvPr descr="3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00300" y="1193800"/>
            <a:ext cx="4343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Спектр кода RZ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Спектр манчестерского кода</a:t>
            </a:r>
          </a:p>
        </p:txBody>
      </p:sp>
      <p:pic>
        <p:nvPicPr>
          <p:cNvPr descr="3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11400" y="1193800"/>
            <a:ext cx="4521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Спектр манчестерского кода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Этап выполнения работы №35</a:t>
            </a:r>
          </a:p>
        </p:txBody>
      </p:sp>
      <p:pic>
        <p:nvPicPr>
          <p:cNvPr descr="3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01900" y="1193800"/>
            <a:ext cx="4152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выполнения работы №35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Вывод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ходе выполнения лабораторной работы были получены практические навыки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Список литературы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[1] Методические указания к лабораторной работе №01 [2] Документация по сетевым технологиям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№01</dc:title>
  <dc:creator>Талебу Тенке Франк Устон</dc:creator>
  <cp:keywords/>
  <dcterms:created xsi:type="dcterms:W3CDTF">2026-03-18T11:54:56Z</dcterms:created>
  <dcterms:modified xsi:type="dcterms:W3CDTF">2026-03-18T11:54:56Z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spectratio">
    <vt:lpwstr>169</vt:lpwstr>
  </property>
  <property fmtid="{D5CDD505-2E9C-101B-9397-08002B2CF9AE}" pid="3" name="classoption">
    <vt:lpwstr>aspectratio=169</vt:lpwstr>
  </property>
  <property fmtid="{D5CDD505-2E9C-101B-9397-08002B2CF9AE}" pid="4" name="date">
    <vt:lpwstr>2025</vt:lpwstr>
  </property>
  <property fmtid="{D5CDD505-2E9C-101B-9397-08002B2CF9AE}" pid="5" name="mainfont">
    <vt:lpwstr>DejaVu Serif</vt:lpwstr>
  </property>
  <property fmtid="{D5CDD505-2E9C-101B-9397-08002B2CF9AE}" pid="6" name="monofont">
    <vt:lpwstr>DejaVu Sans Mono</vt:lpwstr>
  </property>
  <property fmtid="{D5CDD505-2E9C-101B-9397-08002B2CF9AE}" pid="7" name="sansfont">
    <vt:lpwstr>DejaVu Sans</vt:lpwstr>
  </property>
  <property fmtid="{D5CDD505-2E9C-101B-9397-08002B2CF9AE}" pid="8" name="subtitle">
    <vt:lpwstr>Дисциплина: Администрирование сетевых подсистем</vt:lpwstr>
  </property>
  <property fmtid="{D5CDD505-2E9C-101B-9397-08002B2CF9AE}" pid="9" name="theme">
    <vt:lpwstr>CambridgeUS</vt:lpwstr>
  </property>
</Properties>
</file>