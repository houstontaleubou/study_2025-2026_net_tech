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8" Type="http://schemas.openxmlformats.org/officeDocument/2006/relationships/viewProps" Target="viewProps.xml" /><Relationship Id="rId2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0" Type="http://schemas.openxmlformats.org/officeDocument/2006/relationships/tableStyles" Target="tableStyles.xml" /><Relationship Id="rId2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9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0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№08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Дисциплина: Администрирование сетевых подсистем</a:t>
            </a:r>
            <a:br/>
            <a:br/>
            <a:r>
              <a:rPr/>
              <a:t>Талебу Тенке Франк Устон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Талебу Тенке Франк Устон</a:t>
            </a:r>
          </a:p>
          <a:p>
            <a:pPr lvl="0"/>
            <a:r>
              <a:rPr/>
              <a:t>Студент группы НФИбд-02-23</a:t>
            </a:r>
          </a:p>
          <a:p>
            <a:pPr lvl="0"/>
            <a:r>
              <a:rPr/>
              <a:t>Студ. билет 1032224534</a:t>
            </a:r>
          </a:p>
          <a:p>
            <a:pPr lvl="0"/>
            <a:r>
              <a:rPr/>
              <a:t>Российский университет дружбы народов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Изучение принципов работы сетевых технологий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Далее были изменены отображаемые имена устройств в соответствии с требованиями задания: коммутаторы получили имена по шаблону </a:t>
            </a:r>
            <a:r>
              <a:rPr>
                <a:latin typeface="DejaVu Sans Mono"/>
              </a:rPr>
              <a:t>msk-user-sw-0x</a:t>
            </a:r>
            <a:r>
              <a:rPr/>
              <a:t>, маршрутизаторы — </a:t>
            </a:r>
            <a:r>
              <a:rPr>
                <a:latin typeface="DejaVu Sans Mono"/>
              </a:rPr>
              <a:t>msk-user-gw-0x</a:t>
            </a:r>
            <a:r>
              <a:rPr/>
              <a:t>, а узлы VPCS — </a:t>
            </a:r>
            <a:r>
              <a:rPr>
                <a:latin typeface="DejaVu Sans Mono"/>
              </a:rPr>
              <a:t>PCx-user</a:t>
            </a:r>
            <a:r>
              <a:rPr/>
              <a:t>. На завершающем этапе был включён захват трафика на соединениях между sw-01 и gw-01, а также между sw-02 и gw-03, что позволило в дальнейшем проанализировать работу протоколов маршрутизации и передачу пользовательского трафика.</a:t>
            </a:r>
          </a:p>
        </p:txBody>
      </p:sp>
      <p:pic>
        <p:nvPicPr>
          <p:cNvPr descr="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11300" y="1193800"/>
            <a:ext cx="6108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Далее были изменены отображаемые имена устройств в соответствии с требованиями задания: коммутаторы получили имена по шаблону </a:t>
            </a:r>
            <a:r>
              <a:rPr>
                <a:latin typeface="DejaVu Sans Mono"/>
              </a:rPr>
              <a:t>msk-user-sw-0x</a:t>
            </a:r>
            <a:r>
              <a:rPr/>
              <a:t>, маршрутизаторы — </a:t>
            </a:r>
            <a:r>
              <a:rPr>
                <a:latin typeface="DejaVu Sans Mono"/>
              </a:rPr>
              <a:t>msk-user-gw-0x</a:t>
            </a:r>
            <a:r>
              <a:rPr/>
              <a:t>, а узлы VPCS — </a:t>
            </a:r>
            <a:r>
              <a:rPr>
                <a:latin typeface="DejaVu Sans Mono"/>
              </a:rPr>
              <a:t>PCx-user</a:t>
            </a:r>
            <a:r>
              <a:rPr/>
              <a:t>. На завершающем этапе был включён захват трафика на соединениях между sw-01 и gw-01, а также между sw-02 и gw-03, что позволило в дальнейшем проанализировать работу протоколов маршрутизации и передачу пользовательского трафика.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соответствии с таблицей адресации были настроены IPv4-адреса на оконечных устройствах PC1 и PC2 с использованием команд VPCS. На узле PC1 был назначен IP-адрес 10.0.10.10/24 с указанием шлюза по умолчанию 10.0.10.1. Конфигурация была сохранена, после чего с помощью команды </a:t>
            </a:r>
            <a:r>
              <a:rPr>
                <a:latin typeface="DejaVu Sans Mono"/>
              </a:rPr>
              <a:t>show ip</a:t>
            </a:r>
            <a:r>
              <a:rPr/>
              <a:t> подтверждена корректность заданных параметров (рис. @fig:002).</a:t>
            </a:r>
          </a:p>
        </p:txBody>
      </p:sp>
      <p:pic>
        <p:nvPicPr>
          <p:cNvPr descr="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36800" y="1193800"/>
            <a:ext cx="4483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В соответствии с таблицей адресации были настроены IPv4-адреса на оконечных устройствах PC1 и PC2 с использованием команд VPCS. На узле PC1 был назначен IP-адрес 10.0.10.10/24 с указанием шлюза по умолчанию 10.0.10.1. Конфигурация была сохранена, после чего с помощью команды </a:t>
            </a:r>
            <a:r>
              <a:rPr>
                <a:latin typeface="DejaVu Sans Mono"/>
              </a:rPr>
              <a:t>show ip</a:t>
            </a:r>
            <a:r>
              <a:rPr/>
              <a:t> подтверждена корректность заданных параметров (рис. @fig:002).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узле PC2 был назначен IP-адрес 10.0.11.10/24 с шлюзом по умолчанию 10.0.11.1. После сохранения конфигурации проверка команды </a:t>
            </a:r>
            <a:r>
              <a:rPr>
                <a:latin typeface="DejaVu Sans Mono"/>
              </a:rPr>
              <a:t>show ip</a:t>
            </a:r>
            <a:r>
              <a:rPr/>
              <a:t> показала корректное применение настроек (рис. @fig:003).</a:t>
            </a:r>
          </a:p>
        </p:txBody>
      </p:sp>
      <p:pic>
        <p:nvPicPr>
          <p:cNvPr descr="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36800" y="1193800"/>
            <a:ext cx="4457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узле PC2 был назначен IP-адрес 10.0.11.10/24 с шлюзом по умолчанию 10.0.11.1. После сохранения конфигурации проверка команды </a:t>
            </a:r>
            <a:r>
              <a:rPr>
                <a:latin typeface="DejaVu Sans Mono"/>
              </a:rPr>
              <a:t>show ip</a:t>
            </a:r>
            <a:r>
              <a:rPr/>
              <a:t> показала корректное применение настроек (рис. @fig:003).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маршрутизаторе msk-user-gw-01 были настроены IPv4-адреса на интерфейсах eth0, eth1 и eth2 в соответствии с таблицей адресации. После назначения адресов интерфейсы были переведены в активное состояние с помощью команды </a:t>
            </a:r>
            <a:r>
              <a:rPr>
                <a:latin typeface="DejaVu Sans Mono"/>
              </a:rPr>
              <a:t>no shutdown</a:t>
            </a:r>
            <a:r>
              <a:rPr/>
              <a:t>. Конфигурация была сохранена, а корректность настроек подтверждена командой </a:t>
            </a:r>
            <a:r>
              <a:rPr>
                <a:latin typeface="DejaVu Sans Mono"/>
              </a:rPr>
              <a:t>show running-config</a:t>
            </a:r>
            <a:r>
              <a:rPr/>
              <a:t> (рис. @fig:004).</a:t>
            </a:r>
          </a:p>
        </p:txBody>
      </p:sp>
      <p:pic>
        <p:nvPicPr>
          <p:cNvPr descr="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98700" y="1193800"/>
            <a:ext cx="4546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маршрутизаторе msk-user-gw-01 были настроены IPv4-адреса на интерфейсах eth0, eth1 и eth2 в соответствии с таблицей адресации. После назначения адресов интерфейсы были переведены в активное состояние с помощью команды </a:t>
            </a:r>
            <a:r>
              <a:rPr>
                <a:latin typeface="DejaVu Sans Mono"/>
              </a:rPr>
              <a:t>no shutdown</a:t>
            </a:r>
            <a:r>
              <a:rPr/>
              <a:t>. Конфигурация была сохранена, а корректность настроек подтверждена командой </a:t>
            </a:r>
            <a:r>
              <a:rPr>
                <a:latin typeface="DejaVu Sans Mono"/>
              </a:rPr>
              <a:t>show running-config</a:t>
            </a:r>
            <a:r>
              <a:rPr/>
              <a:t> (рис. @fig:004).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маршрутизаторе msk-user-gw-02 была выполнена настройка IPv4-адресов на интерфейсах eth0 и eth1 согласно заданной схеме сети. Все интерфейсы были активированы, после чего конфигурация сохранена (рис. @fig:005).</a:t>
            </a:r>
          </a:p>
        </p:txBody>
      </p:sp>
      <p:pic>
        <p:nvPicPr>
          <p:cNvPr descr="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73300" y="1193800"/>
            <a:ext cx="4597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маршрутизаторе msk-user-gw-02 была выполнена настройка IPv4-адресов на интерфейсах eth0 и eth1 согласно заданной схеме сети. Все интерфейсы были активированы, после чего конфигурация сохранена (рис. @fig:005).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маршрутизаторе msk-user-gw-03 были назначены IPv4-адреса на интерфейсах eth0, eth1 и eth2, обеспечивающих подключение к локальной сети и соседним маршрутизаторам. Все интерфейсы успешно активированы, конфигурация сохранена (рис. @fig:006).</a:t>
            </a:r>
          </a:p>
        </p:txBody>
      </p:sp>
      <p:pic>
        <p:nvPicPr>
          <p:cNvPr descr="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46300" y="1193800"/>
            <a:ext cx="4851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маршрутизаторе msk-user-gw-03 были назначены IPv4-адреса на интерфейсах eth0, eth1 и eth2, обеспечивающих подключение к локальной сети и соседним маршрутизаторам. Все интерфейсы успешно активированы, конфигурация сохранена (рис. @fig:006).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маршрутизаторе msk-user-gw-04 выполнена настройка IPv4-адресов на интерфейсах eth0 и eth1 в соответствии с топологией сети. После включения интерфейсов и сохранения конфигурации была выполнена проверка, подтвердившая корректность параметров (рис. @fig:007).</a:t>
            </a:r>
          </a:p>
        </p:txBody>
      </p:sp>
      <p:pic>
        <p:nvPicPr>
          <p:cNvPr descr="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98700" y="1193800"/>
            <a:ext cx="4559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маршрутизаторе msk-user-gw-04 выполнена настройка IPv4-адресов на интерфейсах eth0 и eth1 в соответствии с топологией сети. После включения интерфейсов и сохранения конфигурации была выполнена проверка, подтвердившая корректность параметров (рис. @fig:007).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узле PC1 был назначен глобальный IPv6-адрес 2001:10::a/64. После сохранения конфигурации проверка с помощью команды </a:t>
            </a:r>
            <a:r>
              <a:rPr>
                <a:latin typeface="DejaVu Sans Mono"/>
              </a:rPr>
              <a:t>show ipv6</a:t>
            </a:r>
            <a:r>
              <a:rPr/>
              <a:t> подтвердила корректное назначение глобального и link-local адресов (рис. @fig:008).</a:t>
            </a:r>
          </a:p>
        </p:txBody>
      </p:sp>
      <p:pic>
        <p:nvPicPr>
          <p:cNvPr descr="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28900" y="1193800"/>
            <a:ext cx="3898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узле PC1 был назначен глобальный IPv6-адрес 2001:10::a/64. После сохранения конфигурации проверка с помощью команды </a:t>
            </a:r>
            <a:r>
              <a:rPr>
                <a:latin typeface="DejaVu Sans Mono"/>
              </a:rPr>
              <a:t>show ipv6</a:t>
            </a:r>
            <a:r>
              <a:rPr/>
              <a:t> подтвердила корректное назначение глобального и link-local адресов (рис. @fig:008).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узле PC2 был назначен глобальный IPv6-адрес 2001:11::a/64. Конфигурация была сохранена, а вывод команды </a:t>
            </a:r>
            <a:r>
              <a:rPr>
                <a:latin typeface="DejaVu Sans Mono"/>
              </a:rPr>
              <a:t>show ipv6</a:t>
            </a:r>
            <a:r>
              <a:rPr/>
              <a:t> подтвердил корректность параметров IPv6 (рис. @fig:009).</a:t>
            </a:r>
          </a:p>
        </p:txBody>
      </p:sp>
      <p:pic>
        <p:nvPicPr>
          <p:cNvPr descr="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86100" y="1193800"/>
            <a:ext cx="2971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узле PC2 был назначен глобальный IPv6-адрес 2001:11::a/64. Конфигурация была сохранена, а вывод команды </a:t>
            </a:r>
            <a:r>
              <a:rPr>
                <a:latin typeface="DejaVu Sans Mono"/>
              </a:rPr>
              <a:t>show ipv6</a:t>
            </a:r>
            <a:r>
              <a:rPr/>
              <a:t> подтвердил корректность параметров IPv6 (рис. @fig:009).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маршрутизаторе msk-user-gw-01 была включена поддержка пересылки IPv6 (</a:t>
            </a:r>
            <a:r>
              <a:rPr>
                <a:latin typeface="DejaVu Sans Mono"/>
              </a:rPr>
              <a:t>ipv6 forwarding</a:t>
            </a:r>
            <a:r>
              <a:rPr/>
              <a:t>) и настроены IPv6-адреса на интерфейсах eth0, eth1 и eth2. На интерфейсе eth0 дополнительно включена рассылка Router Advertisement для узлов локальной сети (рис. @fig:010).</a:t>
            </a:r>
          </a:p>
        </p:txBody>
      </p:sp>
      <p:pic>
        <p:nvPicPr>
          <p:cNvPr descr="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00300" y="1193800"/>
            <a:ext cx="4356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маршрутизаторе msk-user-gw-01 была включена поддержка пересылки IPv6 (</a:t>
            </a:r>
            <a:r>
              <a:rPr>
                <a:latin typeface="DejaVu Sans Mono"/>
              </a:rPr>
              <a:t>ipv6 forwarding</a:t>
            </a:r>
            <a:r>
              <a:rPr/>
              <a:t>) и настроены IPv6-адреса на интерфейсах eth0, eth1 и eth2. На интерфейсе eth0 дополнительно включена рассылка Router Advertisement для узлов локальной сети (рис. @fig:010).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маршрутизаторе msk-user-gw-02 выполнено включение IPv6-пересылки и назначение IPv6-адресов на интерфейсах eth0 и eth1 (рис. @fig:011).</a:t>
            </a:r>
          </a:p>
        </p:txBody>
      </p:sp>
      <p:pic>
        <p:nvPicPr>
          <p:cNvPr descr="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24100" y="1193800"/>
            <a:ext cx="4495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маршрутизаторе msk-user-gw-02 выполнено включение IPv6-пересылки и назначение IPv6-адресов на интерфейсах eth0 и eth1 (рис. @fig:011).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маршрутизаторе msk-user-gw-03 была активирована поддержка IPv6 и назначены IPv6-адреса на интерфейсах eth0, eth1 и eth2. На интерфейсе eth0 включена рассылка Router Advertisement (рис. @fig:012).</a:t>
            </a:r>
          </a:p>
        </p:txBody>
      </p:sp>
      <p:pic>
        <p:nvPicPr>
          <p:cNvPr descr="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98700" y="1193800"/>
            <a:ext cx="4546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маршрутизаторе msk-user-gw-03 была активирована поддержка IPv6 и назначены IPv6-адреса на интерфейсах eth0, eth1 и eth2. На интерфейсе eth0 включена рассылка Router Advertisement (рис. @fig:012).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маршрутизаторе msk-user-gw-04 выполнена настройка IPv6-адресов на интерфейсах eth0 и eth1 с предварительным включением пересылки IPv6 (рис. @fig:013).</a:t>
            </a:r>
          </a:p>
        </p:txBody>
      </p:sp>
      <p:pic>
        <p:nvPicPr>
          <p:cNvPr descr="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98700" y="1193800"/>
            <a:ext cx="4546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маршрутизаторе msk-user-gw-04 выполнена настройка IPv6-адресов на интерфейсах eth0 и eth1 с предварительным включением пересылки IPv6 (рис. @fig:013).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маршрутизаторе msk-user-gw-01 был включён протокол динамической маршрутизации RIP версии 2. Маршрутизация активирована на интерфейсах eth0, eth1 и eth2, что позволило объявлять все непосредственно подключённые сети и получать маршруты от соседних маршрутизаторов (рис. @fig:014).</a:t>
            </a:r>
          </a:p>
        </p:txBody>
      </p:sp>
      <p:pic>
        <p:nvPicPr>
          <p:cNvPr descr="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193800"/>
            <a:ext cx="4533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маршрутизаторе msk-user-gw-01 был включён протокол динамической маршрутизации RIP версии 2. Маршрутизация активирована на интерфейсах eth0, eth1 и eth2, что позволило объявлять все непосредственно подключённые сети и получать маршруты от соседних маршрутизаторов (рис. @fig:014).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маршрутизаторе msk-user-gw-02 выполнена настройка RIPv2 с активацией протокола на интерфейсах eth0 и eth1 (рис. @fig:015).</a:t>
            </a:r>
          </a:p>
        </p:txBody>
      </p:sp>
      <p:pic>
        <p:nvPicPr>
          <p:cNvPr descr="1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68600" y="1193800"/>
            <a:ext cx="3606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маршрутизаторе msk-user-gw-02 выполнена настройка RIPv2 с активацией протокола на интерфейсах eth0 и eth1 (рис. @fig:015).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маршрутизаторе msk-user-gw-03 был настроен протокол RIPv2 и включён на интерфейсах eth0, eth1 и eth2 (рис. @fig:016).</a:t>
            </a:r>
          </a:p>
        </p:txBody>
      </p:sp>
      <p:pic>
        <p:nvPicPr>
          <p:cNvPr descr="1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55900" y="1193800"/>
            <a:ext cx="3644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маршрутизаторе msk-user-gw-03 был настроен протокол RIPv2 и включён на интерфейсах eth0, eth1 и eth2 (рис. @fig:016).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маршрутизаторе msk-user-gw-04 выполнена настройка RIPv2 с включением протокола на интерфейсах eth0 и eth1 (рис. @fig:017).</a:t>
            </a:r>
          </a:p>
        </p:txBody>
      </p:sp>
      <p:pic>
        <p:nvPicPr>
          <p:cNvPr descr="1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73400" y="1193800"/>
            <a:ext cx="2984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маршрутизаторе msk-user-gw-04 выполнена настройка RIPv2 с включением протокола на интерфейсах eth0 и eth1 (рис. @fig:017).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Результаты команды </a:t>
            </a:r>
            <a:r>
              <a:rPr>
                <a:latin typeface="DejaVu Sans Mono"/>
              </a:rPr>
              <a:t>show ip route rip</a:t>
            </a:r>
            <a:r>
              <a:rPr/>
              <a:t> показали, что маршрутизаторы успешно получили маршруты к удалённым сетям по протоколу RIP, с указанием следующего перехода (Next Hop) и соответствующих метрик (рис. @fig:018).</a:t>
            </a:r>
          </a:p>
        </p:txBody>
      </p:sp>
      <p:pic>
        <p:nvPicPr>
          <p:cNvPr descr="1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73300" y="1193800"/>
            <a:ext cx="4584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Результаты команды </a:t>
            </a:r>
            <a:r>
              <a:rPr>
                <a:latin typeface="DejaVu Sans Mono"/>
              </a:rPr>
              <a:t>show ip route rip</a:t>
            </a:r>
            <a:r>
              <a:rPr/>
              <a:t> показали, что маршрутизаторы успешно получили маршруты к удалённым сетям по протоколу RIP, с указанием следующего перехода (Next Hop) и соответствующих метрик (рис. @fig:018).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 команды </a:t>
            </a:r>
            <a:r>
              <a:rPr>
                <a:latin typeface="DejaVu Sans Mono"/>
              </a:rPr>
              <a:t>show ip rip</a:t>
            </a:r>
            <a:r>
              <a:rPr/>
              <a:t> отразил список объявляемых и полученных сетей, значения метрик и источники маршрутной информации (рис. @fig:019).</a:t>
            </a:r>
          </a:p>
        </p:txBody>
      </p:sp>
      <p:pic>
        <p:nvPicPr>
          <p:cNvPr descr="1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98700" y="1193800"/>
            <a:ext cx="4533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Вывод команды </a:t>
            </a:r>
            <a:r>
              <a:rPr>
                <a:latin typeface="DejaVu Sans Mono"/>
              </a:rPr>
              <a:t>show ip rip</a:t>
            </a:r>
            <a:r>
              <a:rPr/>
              <a:t> отразил список объявляемых и полученных сетей, значения метрик и источники маршрутной информации (рис. @fig:019).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Команда </a:t>
            </a:r>
            <a:r>
              <a:rPr>
                <a:latin typeface="DejaVu Sans Mono"/>
              </a:rPr>
              <a:t>show ip rip status</a:t>
            </a:r>
            <a:r>
              <a:rPr/>
              <a:t> показала, что используется RIP версии 2, обновления отправляются каждые 30 секунд, таймеры протокола соответствуют стандартным значениям (рис. @fig:020).</a:t>
            </a:r>
          </a:p>
        </p:txBody>
      </p:sp>
      <p:pic>
        <p:nvPicPr>
          <p:cNvPr descr="2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98800" y="1193800"/>
            <a:ext cx="2959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Команда </a:t>
            </a:r>
            <a:r>
              <a:rPr>
                <a:latin typeface="DejaVu Sans Mono"/>
              </a:rPr>
              <a:t>show ip rip status</a:t>
            </a:r>
            <a:r>
              <a:rPr/>
              <a:t> показала, что используется RIP версии 2, обновления отправляются каждые 30 секунд, таймеры протокола соответствуют стандартным значениям (рис. @fig:020).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лабораторной работы были получены практические навыки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Список литературы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[1] Методические указания к лабораторной работе №08 [2] Документация по сетевым технологиям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№08</dc:title>
  <dc:creator>Талебу Тенке Франк Устон</dc:creator>
  <cp:keywords/>
  <dcterms:created xsi:type="dcterms:W3CDTF">2026-03-18T11:51:07Z</dcterms:created>
  <dcterms:modified xsi:type="dcterms:W3CDTF">2026-03-18T11:51:07Z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2025</vt:lpwstr>
  </property>
  <property fmtid="{D5CDD505-2E9C-101B-9397-08002B2CF9AE}" pid="3" name="mainfont">
    <vt:lpwstr>DejaVu Serif</vt:lpwstr>
  </property>
  <property fmtid="{D5CDD505-2E9C-101B-9397-08002B2CF9AE}" pid="4" name="monofont">
    <vt:lpwstr>DejaVu Sans Mono</vt:lpwstr>
  </property>
  <property fmtid="{D5CDD505-2E9C-101B-9397-08002B2CF9AE}" pid="5" name="sansfont">
    <vt:lpwstr>DejaVu Sans</vt:lpwstr>
  </property>
  <property fmtid="{D5CDD505-2E9C-101B-9397-08002B2CF9AE}" pid="6" name="subtitle">
    <vt:lpwstr>Дисциплина: Администрирование сетевых подсистем</vt:lpwstr>
  </property>
  <property fmtid="{D5CDD505-2E9C-101B-9397-08002B2CF9AE}" pid="7" name="theme">
    <vt:lpwstr>CambridgeUS</vt:lpwstr>
  </property>
</Properties>
</file>