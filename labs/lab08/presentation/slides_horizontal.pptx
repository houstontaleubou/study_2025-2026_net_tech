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60" Type="http://schemas.openxmlformats.org/officeDocument/2006/relationships/viewProps" Target="viewProps.xml" /><Relationship Id="rId5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2" Type="http://schemas.openxmlformats.org/officeDocument/2006/relationships/tableStyles" Target="tableStyles.xml" /><Relationship Id="rId6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2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3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5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6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7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8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9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0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1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2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3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4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5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6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7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8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9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0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1.pn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2.png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Далее были изменены отображаемые имена устройств в соответствии с требованиями задания: коммутаторы получили имена по шаблону </a:t>
            </a:r>
            <a:r>
              <a:rPr>
                <a:latin typeface="DejaVu Sans Mono"/>
              </a:rPr>
              <a:t>msk-user-sw-0x</a:t>
            </a:r>
            <a:r>
              <a:rPr/>
              <a:t>, маршрутизаторы — </a:t>
            </a:r>
            <a:r>
              <a:rPr>
                <a:latin typeface="DejaVu Sans Mono"/>
              </a:rPr>
              <a:t>msk-user-gw-0x</a:t>
            </a:r>
            <a:r>
              <a:rPr/>
              <a:t>, а узлы VPCS — </a:t>
            </a:r>
            <a:r>
              <a:rPr>
                <a:latin typeface="DejaVu Sans Mono"/>
              </a:rPr>
              <a:t>PCx-user</a:t>
            </a:r>
            <a:r>
              <a:rPr/>
              <a:t>. На завершающем этапе был включён захват трафика на соединениях между sw-01 и gw-01, а также между sw-02 и gw-03, что позволило в дальнейшем проанализировать работу протоколов маршрутизации и передачу пользовательского трафика.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11300" y="1193800"/>
            <a:ext cx="610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Далее были изменены отображаемые имена устройств в соответствии с требованиями задания: коммутаторы получили имена по шаблону </a:t>
            </a:r>
            <a:r>
              <a:rPr>
                <a:latin typeface="DejaVu Sans Mono"/>
              </a:rPr>
              <a:t>msk-user-sw-0x</a:t>
            </a:r>
            <a:r>
              <a:rPr/>
              <a:t>, маршрутизаторы — </a:t>
            </a:r>
            <a:r>
              <a:rPr>
                <a:latin typeface="DejaVu Sans Mono"/>
              </a:rPr>
              <a:t>msk-user-gw-0x</a:t>
            </a:r>
            <a:r>
              <a:rPr/>
              <a:t>, а узлы VPCS — </a:t>
            </a:r>
            <a:r>
              <a:rPr>
                <a:latin typeface="DejaVu Sans Mono"/>
              </a:rPr>
              <a:t>PCx-user</a:t>
            </a:r>
            <a:r>
              <a:rPr/>
              <a:t>. На завершающем этапе был включён захват трафика на соединениях между sw-01 и gw-01, а также между sw-02 и gw-03, что позволило в дальнейшем проанализировать работу протоколов маршрутизации и передачу пользовательского трафика.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соответствии с таблицей адресации были настроены IPv4-адреса на оконечных устройствах PC1 и PC2 с использованием команд VPCS. На узле PC1 был назначен IP-адрес 10.0.10.10/24 с указанием шлюза по умолчанию 10.0.10.1. Конфигурация была сохранена, после чего с помощью команды </a:t>
            </a:r>
            <a:r>
              <a:rPr>
                <a:latin typeface="DejaVu Sans Mono"/>
              </a:rPr>
              <a:t>show ip</a:t>
            </a:r>
            <a:r>
              <a:rPr/>
              <a:t> подтверждена корректность заданных параметров (рис. @fig:002).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8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соответствии с таблицей адресации были настроены IPv4-адреса на оконечных устройствах PC1 и PC2 с использованием команд VPCS. На узле PC1 был назначен IP-адрес 10.0.10.10/24 с указанием шлюза по умолчанию 10.0.10.1. Конфигурация была сохранена, после чего с помощью команды </a:t>
            </a:r>
            <a:r>
              <a:rPr>
                <a:latin typeface="DejaVu Sans Mono"/>
              </a:rPr>
              <a:t>show ip</a:t>
            </a:r>
            <a:r>
              <a:rPr/>
              <a:t> подтверждена корректность заданных параметров (рис. @fig:002).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узле PC2 был назначен IP-адрес 10.0.11.10/24 с шлюзом по умолчанию 10.0.11.1. После сохранения конфигурации проверка команды </a:t>
            </a:r>
            <a:r>
              <a:rPr>
                <a:latin typeface="DejaVu Sans Mono"/>
              </a:rPr>
              <a:t>show ip</a:t>
            </a:r>
            <a:r>
              <a:rPr/>
              <a:t> показала корректное применение настроек (рис. @fig:003).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57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узле PC2 был назначен IP-адрес 10.0.11.10/24 с шлюзом по умолчанию 10.0.11.1. После сохранения конфигурации проверка команды </a:t>
            </a:r>
            <a:r>
              <a:rPr>
                <a:latin typeface="DejaVu Sans Mono"/>
              </a:rPr>
              <a:t>show ip</a:t>
            </a:r>
            <a:r>
              <a:rPr/>
              <a:t> показала корректное применение настроек (рис. @fig:003).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msk-user-gw-01 были настроены IPv4-адреса на интерфейсах eth0, eth1 и eth2 в соответствии с таблицей адресации. После назначения адресов интерфейсы были переведены в активное состояние с помощью команды </a:t>
            </a:r>
            <a:r>
              <a:rPr>
                <a:latin typeface="DejaVu Sans Mono"/>
              </a:rPr>
              <a:t>no shutdown</a:t>
            </a:r>
            <a:r>
              <a:rPr/>
              <a:t>. Конфигурация была сохранена, а корректность настроек подтверждена командой </a:t>
            </a:r>
            <a:r>
              <a:rPr>
                <a:latin typeface="DejaVu Sans Mono"/>
              </a:rPr>
              <a:t>show running-config</a:t>
            </a:r>
            <a:r>
              <a:rPr/>
              <a:t> (рис. @fig:004).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msk-user-gw-01 были настроены IPv4-адреса на интерфейсах eth0, eth1 и eth2 в соответствии с таблицей адресации. После назначения адресов интерфейсы были переведены в активное состояние с помощью команды </a:t>
            </a:r>
            <a:r>
              <a:rPr>
                <a:latin typeface="DejaVu Sans Mono"/>
              </a:rPr>
              <a:t>no shutdown</a:t>
            </a:r>
            <a:r>
              <a:rPr/>
              <a:t>. Конфигурация была сохранена, а корректность настроек подтверждена командой </a:t>
            </a:r>
            <a:r>
              <a:rPr>
                <a:latin typeface="DejaVu Sans Mono"/>
              </a:rPr>
              <a:t>show running-config</a:t>
            </a:r>
            <a:r>
              <a:rPr/>
              <a:t> (рис. @fig:004).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msk-user-gw-02 была выполнена настройка IPv4-адресов на интерфейсах eth0 и eth1 согласно заданной схеме сети. Все интерфейсы были активированы, после чего конфигурация сохранена (рис. @fig:005).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73300" y="1193800"/>
            <a:ext cx="4597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msk-user-gw-02 была выполнена настройка IPv4-адресов на интерфейсах eth0 и eth1 согласно заданной схеме сети. Все интерфейсы были активированы, после чего конфигурация сохранена (рис. @fig:005).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msk-user-gw-03 были назначены IPv4-адреса на интерфейсах eth0, eth1 и eth2, обеспечивающих подключение к локальной сети и соседним маршрутизаторам. Все интерфейсы успешно активированы, конфигурация сохранена (рис. @fig:006).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46300" y="1193800"/>
            <a:ext cx="485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msk-user-gw-03 были назначены IPv4-адреса на интерфейсах eth0, eth1 и eth2, обеспечивающих подключение к локальной сети и соседним маршрутизаторам. Все интерфейсы успешно активированы, конфигурация сохранена (рис. @fig:006).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msk-user-gw-04 выполнена настройка IPv4-адресов на интерфейсах eth0 и eth1 в соответствии с топологией сети. После включения интерфейсов и сохранения конфигурации была выполнена проверка, подтвердившая корректность параметров (рис. @fig:007).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59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msk-user-gw-04 выполнена настройка IPv4-адресов на интерфейсах eth0 и eth1 в соответствии с топологией сети. После включения интерфейсов и сохранения конфигурации была выполнена проверка, подтвердившая корректность параметров (рис. @fig:007).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узле PC1 был назначен глобальный IPv6-адрес 2001:10::a/64. После сохранения конфигурации проверка с помощью команды </a:t>
            </a:r>
            <a:r>
              <a:rPr>
                <a:latin typeface="DejaVu Sans Mono"/>
              </a:rPr>
              <a:t>show ipv6</a:t>
            </a:r>
            <a:r>
              <a:rPr/>
              <a:t> подтвердила корректное назначение глобального и link-local адресов (рис. @fig:008).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28900" y="1193800"/>
            <a:ext cx="3898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узле PC1 был назначен глобальный IPv6-адрес 2001:10::a/64. После сохранения конфигурации проверка с помощью команды </a:t>
            </a:r>
            <a:r>
              <a:rPr>
                <a:latin typeface="DejaVu Sans Mono"/>
              </a:rPr>
              <a:t>show ipv6</a:t>
            </a:r>
            <a:r>
              <a:rPr/>
              <a:t> подтвердила корректное назначение глобального и link-local адресов (рис. @fig:008).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узле PC2 был назначен глобальный IPv6-адрес 2001:11::a/64. Конфигурация была сохранена, а вывод команды </a:t>
            </a:r>
            <a:r>
              <a:rPr>
                <a:latin typeface="DejaVu Sans Mono"/>
              </a:rPr>
              <a:t>show ipv6</a:t>
            </a:r>
            <a:r>
              <a:rPr/>
              <a:t> подтвердил корректность параметров IPv6 (рис. @fig:009).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86100" y="1193800"/>
            <a:ext cx="2971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узле PC2 был назначен глобальный IPv6-адрес 2001:11::a/64. Конфигурация была сохранена, а вывод команды </a:t>
            </a:r>
            <a:r>
              <a:rPr>
                <a:latin typeface="DejaVu Sans Mono"/>
              </a:rPr>
              <a:t>show ipv6</a:t>
            </a:r>
            <a:r>
              <a:rPr/>
              <a:t> подтвердил корректность параметров IPv6 (рис. @fig:009).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msk-user-gw-01 была включена поддержка пересылки IPv6 (</a:t>
            </a:r>
            <a:r>
              <a:rPr>
                <a:latin typeface="DejaVu Sans Mono"/>
              </a:rPr>
              <a:t>ipv6 forwarding</a:t>
            </a:r>
            <a:r>
              <a:rPr/>
              <a:t>) и настроены IPv6-адреса на интерфейсах eth0, eth1 и eth2. На интерфейсе eth0 дополнительно включена рассылка Router Advertisement для узлов локальной сети (рис. @fig:010).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00300" y="1193800"/>
            <a:ext cx="4356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msk-user-gw-01 была включена поддержка пересылки IPv6 (</a:t>
            </a:r>
            <a:r>
              <a:rPr>
                <a:latin typeface="DejaVu Sans Mono"/>
              </a:rPr>
              <a:t>ipv6 forwarding</a:t>
            </a:r>
            <a:r>
              <a:rPr/>
              <a:t>) и настроены IPv6-адреса на интерфейсах eth0, eth1 и eth2. На интерфейсе eth0 дополнительно включена рассылка Router Advertisement для узлов локальной сети (рис. @fig:010).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msk-user-gw-02 выполнено включение IPv6-пересылки и назначение IPv6-адресов на интерфейсах eth0 и eth1 (рис. @fig:011).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49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msk-user-gw-02 выполнено включение IPv6-пересылки и назначение IPv6-адресов на интерфейсах eth0 и eth1 (рис. @fig:011).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msk-user-gw-03 была активирована поддержка IPv6 и назначены IPv6-адреса на интерфейсах eth0, eth1 и eth2. На интерфейсе eth0 включена рассылка Router Advertisement (рис. @fig:012).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msk-user-gw-03 была активирована поддержка IPv6 и назначены IPv6-адреса на интерфейсах eth0, eth1 и eth2. На интерфейсе eth0 включена рассылка Router Advertisement (рис. @fig:012).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msk-user-gw-04 выполнена настройка IPv6-адресов на интерфейсах eth0 и eth1 с предварительным включением пересылки IPv6 (рис. @fig:013).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msk-user-gw-04 выполнена настройка IPv6-адресов на интерфейсах eth0 и eth1 с предварительным включением пересылки IPv6 (рис. @fig:013).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msk-user-gw-01 был включён протокол динамической маршрутизации RIP версии 2. Маршрутизация активирована на интерфейсах eth0, eth1 и eth2, что позволило объявлять все непосредственно подключённые сети и получать маршруты от соседних маршрутизаторов (рис. @fig:014).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3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msk-user-gw-01 был включён протокол динамической маршрутизации RIP версии 2. Маршрутизация активирована на интерфейсах eth0, eth1 и eth2, что позволило объявлять все непосредственно подключённые сети и получать маршруты от соседних маршрутизаторов (рис. @fig:014).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msk-user-gw-02 выполнена настройка RIPv2 с активацией протокола на интерфейсах eth0 и eth1 (рис. @fig:015).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msk-user-gw-02 выполнена настройка RIPv2 с активацией протокола на интерфейсах eth0 и eth1 (рис. @fig:015).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msk-user-gw-03 был настроен протокол RIPv2 и включён на интерфейсах eth0, eth1 и eth2 (рис. @fig:016).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44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msk-user-gw-03 был настроен протокол RIPv2 и включён на интерфейсах eth0, eth1 и eth2 (рис. @fig:016).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msk-user-gw-04 выполнена настройка RIPv2 с включением протокола на интерфейсах eth0 и eth1 (рис. @fig:017).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73400" y="1193800"/>
            <a:ext cx="2984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msk-user-gw-04 выполнена настройка RIPv2 с включением протокола на интерфейсах eth0 и eth1 (рис. @fig:017).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Результаты команды </a:t>
            </a:r>
            <a:r>
              <a:rPr>
                <a:latin typeface="DejaVu Sans Mono"/>
              </a:rPr>
              <a:t>show ip route rip</a:t>
            </a:r>
            <a:r>
              <a:rPr/>
              <a:t> показали, что маршрутизаторы успешно получили маршруты к удалённым сетям по протоколу RIP, с указанием следующего перехода (Next Hop) и соответствующих метрик (рис. @fig:018).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73300" y="1193800"/>
            <a:ext cx="4584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Результаты команды </a:t>
            </a:r>
            <a:r>
              <a:rPr>
                <a:latin typeface="DejaVu Sans Mono"/>
              </a:rPr>
              <a:t>show ip route rip</a:t>
            </a:r>
            <a:r>
              <a:rPr/>
              <a:t> показали, что маршрутизаторы успешно получили маршруты к удалённым сетям по протоколу RIP, с указанием следующего перехода (Next Hop) и соответствующих метрик (рис. @fig:018).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 команды </a:t>
            </a:r>
            <a:r>
              <a:rPr>
                <a:latin typeface="DejaVu Sans Mono"/>
              </a:rPr>
              <a:t>show ip rip</a:t>
            </a:r>
            <a:r>
              <a:rPr/>
              <a:t> отразил список объявляемых и полученных сетей, значения метрик и источники маршрутной информации (рис. @fig:019).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3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Вывод команды </a:t>
            </a:r>
            <a:r>
              <a:rPr>
                <a:latin typeface="DejaVu Sans Mono"/>
              </a:rPr>
              <a:t>show ip rip</a:t>
            </a:r>
            <a:r>
              <a:rPr/>
              <a:t> отразил список объявляемых и полученных сетей, значения метрик и источники маршрутной информации (рис. @fig:019).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Команда </a:t>
            </a:r>
            <a:r>
              <a:rPr>
                <a:latin typeface="DejaVu Sans Mono"/>
              </a:rPr>
              <a:t>show ip rip status</a:t>
            </a:r>
            <a:r>
              <a:rPr/>
              <a:t> показала, что используется RIP версии 2, обновления отправляются каждые 30 секунд, таймеры протокола соответствуют стандартным значениям (рис. @fig:020).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8800" y="1193800"/>
            <a:ext cx="2959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Команда </a:t>
            </a:r>
            <a:r>
              <a:rPr>
                <a:latin typeface="DejaVu Sans Mono"/>
              </a:rPr>
              <a:t>show ip rip status</a:t>
            </a:r>
            <a:r>
              <a:rPr/>
              <a:t> показала, что используется RIP версии 2, обновления отправляются каждые 30 секунд, таймеры протокола соответствуют стандартным значениям (рис. @fig:020).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 узла PC1 была выполнена проверка связности с узлом PC2 с помощью команды </a:t>
            </a:r>
            <a:r>
              <a:rPr>
                <a:latin typeface="DejaVu Sans Mono"/>
              </a:rPr>
              <a:t>ping 10.0.11.10</a:t>
            </a:r>
            <a:r>
              <a:rPr/>
              <a:t>. Ответы ICMP были успешно получены, что подтверждает корректную маршрутизацию в сети. С помощью команды </a:t>
            </a:r>
            <a:r>
              <a:rPr>
                <a:latin typeface="DejaVu Sans Mono"/>
              </a:rPr>
              <a:t>trace 10.0.11.10 -P 6</a:t>
            </a:r>
            <a:r>
              <a:rPr/>
              <a:t> был определён путь следования пакетов (рис. @fig:021).</a:t>
            </a:r>
          </a:p>
        </p:txBody>
      </p:sp>
      <p:pic>
        <p:nvPicPr>
          <p:cNvPr descr="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57300" y="1193800"/>
            <a:ext cx="6629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 узла PC1 была выполнена проверка связности с узлом PC2 с помощью команды </a:t>
            </a:r>
            <a:r>
              <a:rPr>
                <a:latin typeface="DejaVu Sans Mono"/>
              </a:rPr>
              <a:t>ping 10.0.11.10</a:t>
            </a:r>
            <a:r>
              <a:rPr/>
              <a:t>. Ответы ICMP были успешно получены, что подтверждает корректную маршрутизацию в сети. С помощью команды </a:t>
            </a:r>
            <a:r>
              <a:rPr>
                <a:latin typeface="DejaVu Sans Mono"/>
              </a:rPr>
              <a:t>trace 10.0.11.10 -P 6</a:t>
            </a:r>
            <a:r>
              <a:rPr/>
              <a:t> был определён путь следования пакетов (рис. @fig:021).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захваченном трафике присутствуют RIP-пакеты, отправляемые на мультикаст-адрес 224.0.0.9, которые содержат информацию об объявляемых сетях и соответствующих метриках маршрутов (рис. @fig:022).</a:t>
            </a:r>
          </a:p>
        </p:txBody>
      </p:sp>
      <p:pic>
        <p:nvPicPr>
          <p:cNvPr descr="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32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захваченном трафике присутствуют RIP-пакеты, отправляемые на мультикаст-адрес 224.0.0.9, которые содержат информацию об объявляемых сетях и соответствующих метриках маршрутов (рис. @fig:022).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msk-alkamal-gw-01 выполнена настройка протокола OSPFv2. В процесс OSPF добавлены сети 10.0.10.0/24, 10.0.1.0/24 и 10.0.4.0/24, все они включены в область 0.0.0.0 (рис. @fig:023).</a:t>
            </a:r>
          </a:p>
        </p:txBody>
      </p:sp>
      <p:pic>
        <p:nvPicPr>
          <p:cNvPr descr="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48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msk-alkamal-gw-01 выполнена настройка протокола OSPFv2. В процесс OSPF добавлены сети 10.0.10.0/24, 10.0.1.0/24 и 10.0.4.0/24, все они включены в область 0.0.0.0 (рис. @fig:023).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msk-alkamal-gw-02 активирован процесс OSPFv2 и выполнено объявление сетей 10.0.1.0/24 и 10.0.2.0/24 в область 0.0.0.0 (рис. @fig:024).</a:t>
            </a:r>
          </a:p>
        </p:txBody>
      </p:sp>
      <p:pic>
        <p:nvPicPr>
          <p:cNvPr descr="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73200"/>
            <a:ext cx="82296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msk-alkamal-gw-02 активирован процесс OSPFv2 и выполнено объявление сетей 10.0.1.0/24 и 10.0.2.0/24 в область 0.0.0.0 (рис. @fig:024).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msk-alkamal-gw-03 в процесс OSPFv2 включены сети 10.0.11.0/24, 10.0.2.0/24 и 10.0.3.0/24, относящиеся к области 0.0.0.0 (рис. @fig:025).</a:t>
            </a:r>
          </a:p>
        </p:txBody>
      </p:sp>
      <p:pic>
        <p:nvPicPr>
          <p:cNvPr descr="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3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msk-alkamal-gw-03 в процесс OSPFv2 включены сети 10.0.11.0/24, 10.0.2.0/24 и 10.0.3.0/24, относящиеся к области 0.0.0.0 (рис. @fig:025).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msk-alkamal-gw-04 выполнена настройка OSPFv2 с добавлением сетей 10.0.3.0/24 и 10.0.4.0/24 в магистральную область 0.0.0.0 (рис. @fig:026).</a:t>
            </a:r>
          </a:p>
        </p:txBody>
      </p:sp>
      <p:pic>
        <p:nvPicPr>
          <p:cNvPr descr="2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60600" y="1193800"/>
            <a:ext cx="4635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msk-alkamal-gw-04 выполнена настройка OSPFv2 с добавлением сетей 10.0.3.0/24 и 10.0.4.0/24 в магистральную область 0.0.0.0 (рис. @fig:026).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 узла PC1 выполнена проверка связности с узлом PC2 (10.0.11.10) командой </a:t>
            </a:r>
            <a:r>
              <a:rPr>
                <a:latin typeface="DejaVu Sans Mono"/>
              </a:rPr>
              <a:t>ping</a:t>
            </a:r>
            <a:r>
              <a:rPr/>
              <a:t>, получены ответы ICMP. Командой </a:t>
            </a:r>
            <a:r>
              <a:rPr>
                <a:latin typeface="DejaVu Sans Mono"/>
              </a:rPr>
              <a:t>trace 10.0.11.10 -P 6</a:t>
            </a:r>
            <a:r>
              <a:rPr/>
              <a:t> определён маршрут прохождения пакетов: 10.0.10.1 → 10.0.1.2 → 10.0.2.2 → 10.0.11.10 (рис. @fig:027).</a:t>
            </a:r>
          </a:p>
        </p:txBody>
      </p:sp>
      <p:pic>
        <p:nvPicPr>
          <p:cNvPr descr="2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48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 узла PC1 выполнена проверка связности с узлом PC2 (10.0.11.10) командой </a:t>
            </a:r>
            <a:r>
              <a:rPr>
                <a:latin typeface="DejaVu Sans Mono"/>
              </a:rPr>
              <a:t>ping</a:t>
            </a:r>
            <a:r>
              <a:rPr/>
              <a:t>, получены ответы ICMP. Командой </a:t>
            </a:r>
            <a:r>
              <a:rPr>
                <a:latin typeface="DejaVu Sans Mono"/>
              </a:rPr>
              <a:t>trace 10.0.11.10 -P 6</a:t>
            </a:r>
            <a:r>
              <a:rPr/>
              <a:t> определён маршрут прохождения пакетов: 10.0.10.1 → 10.0.1.2 → 10.0.2.2 → 10.0.11.10 (рис. @fig:027).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msk-alkamal-gw-01 проверено состояние соседства OSPFv2 и таблица маршрутов протокола командами </a:t>
            </a:r>
            <a:r>
              <a:rPr>
                <a:latin typeface="DejaVu Sans Mono"/>
              </a:rPr>
              <a:t>show ip ospf neighbor</a:t>
            </a:r>
            <a:r>
              <a:rPr/>
              <a:t> и </a:t>
            </a:r>
            <a:r>
              <a:rPr>
                <a:latin typeface="DejaVu Sans Mono"/>
              </a:rPr>
              <a:t>show ip ospf route</a:t>
            </a:r>
            <a:r>
              <a:rPr/>
              <a:t>. В выводе отображаются два соседа в состоянии Full/Backup. В таблице OSPF присутствуют маршруты к сетям 10.0.2.0/24 и 10.0.3.0/24 через соответствующие next-hop, а также к сети 10.0.11.0/24 сразу по двум направлениям (рис. @fig:028).</a:t>
            </a:r>
          </a:p>
        </p:txBody>
      </p:sp>
      <p:pic>
        <p:nvPicPr>
          <p:cNvPr descr="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7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msk-alkamal-gw-01 проверено состояние соседства OSPFv2 и таблица маршрутов протокола командами </a:t>
            </a:r>
            <a:r>
              <a:rPr>
                <a:latin typeface="DejaVu Sans Mono"/>
              </a:rPr>
              <a:t>show ip ospf neighbor</a:t>
            </a:r>
            <a:r>
              <a:rPr/>
              <a:t> и </a:t>
            </a:r>
            <a:r>
              <a:rPr>
                <a:latin typeface="DejaVu Sans Mono"/>
              </a:rPr>
              <a:t>show ip ospf route</a:t>
            </a:r>
            <a:r>
              <a:rPr/>
              <a:t>. В выводе отображаются два соседа в состоянии Full/Backup. В таблице OSPF присутствуют маршруты к сетям 10.0.2.0/24 и 10.0.3.0/24 через соответствующие next-hop, а также к сети 10.0.11.0/24 сразу по двум направлениям (рис. @fig:028).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моделирования отказа канала на маршрутизаторе msk-alkamal-gw-02 выполнено отключение интерфейса eth0 командой </a:t>
            </a:r>
            <a:r>
              <a:rPr>
                <a:latin typeface="DejaVu Sans Mono"/>
              </a:rPr>
              <a:t>shutdown</a:t>
            </a:r>
            <a:r>
              <a:rPr/>
              <a:t>. После отключения на msk-alkamal-gw-01 маршрут к сети 10.0.2.0/24 отображается через 10.0.4.1 (eth2), а маршрут к сети 10.0.11.0/24 остаётся доступным через 10.0.4.1, то есть используется альтернативный путь (рис. @fig:029).</a:t>
            </a:r>
          </a:p>
        </p:txBody>
      </p:sp>
      <p:pic>
        <p:nvPicPr>
          <p:cNvPr descr="2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28900" y="1193800"/>
            <a:ext cx="3886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Для моделирования отказа канала на маршрутизаторе msk-alkamal-gw-02 выполнено отключение интерфейса eth0 командой </a:t>
            </a:r>
            <a:r>
              <a:rPr>
                <a:latin typeface="DejaVu Sans Mono"/>
              </a:rPr>
              <a:t>shutdown</a:t>
            </a:r>
            <a:r>
              <a:rPr/>
              <a:t>. После отключения на msk-alkamal-gw-01 маршрут к сети 10.0.2.0/24 отображается через 10.0.4.1 (eth2), а маршрут к сети 10.0.11.0/24 остаётся доступным через 10.0.4.1, то есть используется альтернативный путь (рис. @fig:029).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 узла PC1 повторно выполнены </a:t>
            </a:r>
            <a:r>
              <a:rPr>
                <a:latin typeface="DejaVu Sans Mono"/>
              </a:rPr>
              <a:t>ping</a:t>
            </a:r>
            <a:r>
              <a:rPr/>
              <a:t> и </a:t>
            </a:r>
            <a:r>
              <a:rPr>
                <a:latin typeface="DejaVu Sans Mono"/>
              </a:rPr>
              <a:t>trace</a:t>
            </a:r>
            <a:r>
              <a:rPr/>
              <a:t> — связность сохраняется, а трассировка показывает изменённый маршрут: 10.0.10.1 → 10.0.4.1 → 10.0.3.1 → 10.0.11.10 (рис. @fig:030).</a:t>
            </a:r>
          </a:p>
        </p:txBody>
      </p:sp>
      <p:pic>
        <p:nvPicPr>
          <p:cNvPr descr="3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38400" y="1193800"/>
            <a:ext cx="427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 узла PC1 повторно выполнены </a:t>
            </a:r>
            <a:r>
              <a:rPr>
                <a:latin typeface="DejaVu Sans Mono"/>
              </a:rPr>
              <a:t>ping</a:t>
            </a:r>
            <a:r>
              <a:rPr/>
              <a:t> и </a:t>
            </a:r>
            <a:r>
              <a:rPr>
                <a:latin typeface="DejaVu Sans Mono"/>
              </a:rPr>
              <a:t>trace</a:t>
            </a:r>
            <a:r>
              <a:rPr/>
              <a:t> — связность сохраняется, а трассировка показывает изменённый маршрут: 10.0.10.1 → 10.0.4.1 → 10.0.3.1 → 10.0.11.10 (рис. @fig:030).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захваченном трафике фиксируются ARP-пакеты, ICMP Echo Request и Echo Reply, а также служебные пакеты протоколов маршрутизации OSPF (Hello Packet), передаваемые на мультикаст-адрес 224.0.0.5 (рис. @fig:031).</a:t>
            </a:r>
          </a:p>
        </p:txBody>
      </p:sp>
      <p:pic>
        <p:nvPicPr>
          <p:cNvPr descr="3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73300" y="1193800"/>
            <a:ext cx="4584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захваченном трафике фиксируются ARP-пакеты, ICMP Echo Request и Echo Reply, а также служебные пакеты протоколов маршрутизации OSPF (Hello Packet), передаваемые на мультикаст-адрес 224.0.0.5 (рис. @fig:031).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msk-alkamal-gw-01 активирован процесс маршрутизации OSPFv3 для IPv6 и задан идентификатор маршрутизатора 1.1.1.1. Протокол OSPFv3 включён на интерфейсах eth0, eth1 и eth2 с привязкой к области 0 (рис. @fig:032).</a:t>
            </a:r>
          </a:p>
        </p:txBody>
      </p:sp>
      <p:pic>
        <p:nvPicPr>
          <p:cNvPr descr="3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0" y="1193800"/>
            <a:ext cx="4572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msk-alkamal-gw-01 активирован процесс маршрутизации OSPFv3 для IPv6 и задан идентификатор маршрутизатора 1.1.1.1. Протокол OSPFv3 включён на интерфейсах eth0, eth1 и eth2 с привязкой к области 0 (рис. @fig:032).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msk-alkamal-gw-02 выполнено включение OSPFv3 с назначением router-id 2.2.2.2 на интерфейсах eth0 и eth1 (рис. @fig:033).</a:t>
            </a:r>
          </a:p>
        </p:txBody>
      </p:sp>
      <p:pic>
        <p:nvPicPr>
          <p:cNvPr descr="3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msk-alkamal-gw-02 выполнено включение OSPFv3 с назначением router-id 2.2.2.2 на интерфейсах eth0 и eth1 (рис. @fig:033).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msk-alkamal-gw-03 настроен процесс OSPFv3 с идентификатором 3.3.3.3 на интерфейсах eth0, eth1 и eth2 (рис. @fig:034).</a:t>
            </a:r>
          </a:p>
        </p:txBody>
      </p:sp>
      <p:pic>
        <p:nvPicPr>
          <p:cNvPr descr="3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0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msk-alkamal-gw-03 настроен процесс OSPFv3 с идентификатором 3.3.3.3 на интерфейсах eth0, eth1 и eth2 (рис. @fig:034).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msk-alkamal-gw-04 активирован OSPFv3 с router-id 4.4.4.4 на интерфейсах eth0 и eth1 (рис. @fig:035).</a:t>
            </a:r>
          </a:p>
        </p:txBody>
      </p:sp>
      <p:pic>
        <p:nvPicPr>
          <p:cNvPr descr="3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0" y="1193800"/>
            <a:ext cx="4572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msk-alkamal-gw-04 активирован OSPFv3 с router-id 4.4.4.4 на интерфейсах eth0 и eth1 (рис. @fig:035).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 узла PC1 выполнена проверка связности с PC2 по IPv6-адресу 2001:11::a с помощью </a:t>
            </a:r>
            <a:r>
              <a:rPr>
                <a:latin typeface="DejaVu Sans Mono"/>
              </a:rPr>
              <a:t>ping</a:t>
            </a:r>
            <a:r>
              <a:rPr/>
              <a:t>; получены ответы ICMPv6. Командой </a:t>
            </a:r>
            <a:r>
              <a:rPr>
                <a:latin typeface="DejaVu Sans Mono"/>
              </a:rPr>
              <a:t>trace 2001:11::a</a:t>
            </a:r>
            <a:r>
              <a:rPr/>
              <a:t> определён маршрут прохождения пакетов: 2001:10::1 → 2001:1::2 → 2001:2::2 → 2001:11::a (рис. @fig:036).</a:t>
            </a:r>
          </a:p>
        </p:txBody>
      </p:sp>
      <p:pic>
        <p:nvPicPr>
          <p:cNvPr descr="3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3100" y="1193800"/>
            <a:ext cx="5245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 узла PC1 выполнена проверка связности с PC2 по IPv6-адресу 2001:11::a с помощью </a:t>
            </a:r>
            <a:r>
              <a:rPr>
                <a:latin typeface="DejaVu Sans Mono"/>
              </a:rPr>
              <a:t>ping</a:t>
            </a:r>
            <a:r>
              <a:rPr/>
              <a:t>; получены ответы ICMPv6. Командой </a:t>
            </a:r>
            <a:r>
              <a:rPr>
                <a:latin typeface="DejaVu Sans Mono"/>
              </a:rPr>
              <a:t>trace 2001:11::a</a:t>
            </a:r>
            <a:r>
              <a:rPr/>
              <a:t> определён маршрут прохождения пакетов: 2001:10::1 → 2001:1::2 → 2001:2::2 → 2001:11::a (рис. @fig:036).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маршрутизаторе msk-alkamal-gw-01 проверено состояние соседства OSPFv3 и таблица маршрутизации протокола командами </a:t>
            </a:r>
            <a:r>
              <a:rPr>
                <a:latin typeface="DejaVu Sans Mono"/>
              </a:rPr>
              <a:t>show ipv6 ospf6 neighbor</a:t>
            </a:r>
            <a:r>
              <a:rPr/>
              <a:t> и </a:t>
            </a:r>
            <a:r>
              <a:rPr>
                <a:latin typeface="DejaVu Sans Mono"/>
              </a:rPr>
              <a:t>show ipv6 ospf6 route</a:t>
            </a:r>
            <a:r>
              <a:rPr/>
              <a:t>. В списке соседей отображаются router-id 2.2.2.2 и 4.4.4.4, а в таблице маршрутов присутствуют все префиксы сети (рис. @fig:037).</a:t>
            </a:r>
          </a:p>
        </p:txBody>
      </p:sp>
      <p:pic>
        <p:nvPicPr>
          <p:cNvPr descr="3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63800" y="1193800"/>
            <a:ext cx="4216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маршрутизаторе msk-alkamal-gw-01 проверено состояние соседства OSPFv3 и таблица маршрутизации протокола командами </a:t>
            </a:r>
            <a:r>
              <a:rPr>
                <a:latin typeface="DejaVu Sans Mono"/>
              </a:rPr>
              <a:t>show ipv6 ospf6 neighbor</a:t>
            </a:r>
            <a:r>
              <a:rPr/>
              <a:t> и </a:t>
            </a:r>
            <a:r>
              <a:rPr>
                <a:latin typeface="DejaVu Sans Mono"/>
              </a:rPr>
              <a:t>show ipv6 ospf6 route</a:t>
            </a:r>
            <a:r>
              <a:rPr/>
              <a:t>. В списке соседей отображаются router-id 2.2.2.2 и 4.4.4.4, а в таблице маршрутов присутствуют все префиксы сети (рис. @fig:037).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среде GNS3 был создан новый проект, после чего выполнено размещение и соединение сетевых устройств в соответствии с топологией, включающей маршрутизаторы VyOS, коммутаторы и узлы VPCS (рис. @fig:038). Топология состоит из двух IPv6-сегментов, соединённых через IPv4-транзитную сеть, а также логического IPv6-туннеля между граничными маршрутизаторами.</a:t>
            </a:r>
          </a:p>
        </p:txBody>
      </p:sp>
      <p:pic>
        <p:nvPicPr>
          <p:cNvPr descr="3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69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 среде GNS3 был создан новый проект, после чего выполнено размещение и соединение сетевых устройств в соответствии с топологией, включающей маршрутизаторы VyOS, коммутаторы и узлы VPCS (рис. @fig:038). Топология состоит из двух IPv6-сегментов, соединённых через IPv4-транзитную сеть, а также логического IPv6-туннеля между граничными маршрутизаторами.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узле PC1-alkamal назначен IPv6-адрес 1000::a/64 (рис. @fig:039).</a:t>
            </a:r>
          </a:p>
        </p:txBody>
      </p:sp>
      <p:pic>
        <p:nvPicPr>
          <p:cNvPr descr="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0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узле PC1-alkamal назначен IPv6-адрес 1000::a/64 (рис. @fig:039).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узле PC2-alkamal назначен IPv6-адрес 1002::a/64 (рис. @fig:040).</a:t>
            </a:r>
          </a:p>
        </p:txBody>
      </p:sp>
      <p:pic>
        <p:nvPicPr>
          <p:cNvPr descr="4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узле PC2-alkamal назначен IPv6-адрес 1002::a/64 (рис. @fig:040).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маршрутизаторах изменены имена в соответствии с заданием (рис. @fig:041-043).</a:t>
            </a:r>
          </a:p>
        </p:txBody>
      </p:sp>
      <p:pic>
        <p:nvPicPr>
          <p:cNvPr descr="4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маршрутизаторах изменены имена в соответствии с заданием (рис. @fig:041-043).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№42</a:t>
            </a:r>
          </a:p>
        </p:txBody>
      </p:sp>
      <p:pic>
        <p:nvPicPr>
          <p:cNvPr descr="4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0" y="1193800"/>
            <a:ext cx="4559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№42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Изменение имени на msk-alkamal-gw-01</a:t>
            </a:r>
          </a:p>
        </p:txBody>
      </p:sp>
      <p:pic>
        <p:nvPicPr>
          <p:cNvPr descr="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44600"/>
            <a:ext cx="82296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Изменение имени на msk-alkamal-gw-01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маршрутизаторах настроены IPv4- и IPv6-адреса. На msk-alkamal-gw-01 на интерфейсе eth0 назначен IPv6-адрес 1000::1/64 с RA, на eth1 — IPv4-адрес 10.0.0.1/8 (рис. @fig:044).</a:t>
            </a:r>
          </a:p>
        </p:txBody>
      </p:sp>
      <p:pic>
        <p:nvPicPr>
          <p:cNvPr descr="4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87600" y="1193800"/>
            <a:ext cx="4368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маршрутизаторах настроены IPv4- и IPv6-адреса. На msk-alkamal-gw-01 на интерфейсе eth0 назначен IPv6-адрес 1000::1/64 с RA, на eth1 — IPv4-адрес 10.0.0.1/8 (рис. @fig:044).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msk-alkamal-gw-02 на eth0 назначен IPv6-адрес 1002::1/64 с RA, на eth1 — IPv4-адрес 20.0.0.2/8 (рис. @fig:045).</a:t>
            </a:r>
          </a:p>
        </p:txBody>
      </p:sp>
      <p:pic>
        <p:nvPicPr>
          <p:cNvPr descr="4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49500" y="1193800"/>
            <a:ext cx="4445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msk-alkamal-gw-02 на eth0 назначен IPv6-адрес 1002::1/64 с RA, на eth1 — IPv4-адрес 20.0.0.2/8 (рис. @fig:045).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msk-alkamal-gw-03 на eth0 назначен IPv4-адрес 10.0.0.2/8, на eth1 — 20.0.0.1/8 (рис. @fig:046).</a:t>
            </a:r>
          </a:p>
        </p:txBody>
      </p:sp>
      <p:pic>
        <p:nvPicPr>
          <p:cNvPr descr="4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0" y="1193800"/>
            <a:ext cx="4572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msk-alkamal-gw-03 на eth0 назначен IPv4-адрес 10.0.0.2/8, на eth1 — 20.0.0.1/8 (рис. @fig:046).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узлах PC1 и PC2 проверено получение IPv6-параметров по Router Advertisement (рис. @fig:047-048).</a:t>
            </a:r>
          </a:p>
        </p:txBody>
      </p:sp>
      <p:pic>
        <p:nvPicPr>
          <p:cNvPr descr="4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60600" y="1193800"/>
            <a:ext cx="4610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узлах PC1 и PC2 проверено получение IPv6-параметров по Router Advertisement (рис. @fig:047-048).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№48</a:t>
            </a:r>
          </a:p>
        </p:txBody>
      </p:sp>
      <p:pic>
        <p:nvPicPr>
          <p:cNvPr descr="4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22400" y="1193800"/>
            <a:ext cx="628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№48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маршрутизаторах VyOS настроена динамическая маршрутизация IPv4 с использованием протокола RIP (рис. @fig:049-051).</a:t>
            </a:r>
          </a:p>
        </p:txBody>
      </p:sp>
      <p:pic>
        <p:nvPicPr>
          <p:cNvPr descr="4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90900" y="1193800"/>
            <a:ext cx="2349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маршрутизаторах VyOS настроена динамическая маршрутизация IPv4 с использованием протокола RIP (рис. @fig:049-051).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Этап выполнения работы №50</a:t>
            </a:r>
          </a:p>
        </p:txBody>
      </p:sp>
      <p:pic>
        <p:nvPicPr>
          <p:cNvPr descr="5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1193800"/>
            <a:ext cx="7099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выполнения работы №50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Настройка RIP на msk-alkamal-gw-01</a:t>
            </a:r>
          </a:p>
        </p:txBody>
      </p:sp>
      <p:pic>
        <p:nvPicPr>
          <p:cNvPr descr="5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43200" y="1193800"/>
            <a:ext cx="365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Настройка RIP на msk-alkamal-gw-01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 маршрутизаторах msk-alkamal-gw-01 и msk-alkamal-gw-02 настроен IPv6-туннель поверх IPv4 с использованием механизма SIT (рис. @fig:052).</a:t>
            </a:r>
          </a:p>
        </p:txBody>
      </p:sp>
      <p:pic>
        <p:nvPicPr>
          <p:cNvPr descr="5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193800"/>
            <a:ext cx="367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На маршрутизаторах msk-alkamal-gw-01 и msk-alkamal-gw-02 настроен IPv6-туннель поверх IPv4 с использованием механизма SIT (рис. @fig:052).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№08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№08</dc:title>
  <dc:creator>Талебу Тенке Франк Устон</dc:creator>
  <cp:keywords/>
  <dcterms:created xsi:type="dcterms:W3CDTF">2026-03-18T11:56:48Z</dcterms:created>
  <dcterms:modified xsi:type="dcterms:W3CDTF">2026-03-18T11:56:48Z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mainfont">
    <vt:lpwstr>DejaVu Serif</vt:lpwstr>
  </property>
  <property fmtid="{D5CDD505-2E9C-101B-9397-08002B2CF9AE}" pid="6" name="monofont">
    <vt:lpwstr>DejaVu Sans Mono</vt:lpwstr>
  </property>
  <property fmtid="{D5CDD505-2E9C-101B-9397-08002B2CF9AE}" pid="7" name="sansfont">
    <vt:lpwstr>DejaVu Sans</vt:lpwstr>
  </property>
  <property fmtid="{D5CDD505-2E9C-101B-9397-08002B2CF9AE}" pid="8" name="subtitle">
    <vt:lpwstr>Дисциплина: Администрирование сетевых подсистем</vt:lpwstr>
  </property>
  <property fmtid="{D5CDD505-2E9C-101B-9397-08002B2CF9AE}" pid="9" name="theme">
    <vt:lpwstr>CambridgeUS</vt:lpwstr>
  </property>
</Properties>
</file>